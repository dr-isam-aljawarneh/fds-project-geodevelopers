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9" r:id="rId4"/>
  </p:sldMasterIdLst>
  <p:notesMasterIdLst>
    <p:notesMasterId r:id="rId37"/>
  </p:notesMasterIdLst>
  <p:handoutMasterIdLst>
    <p:handoutMasterId r:id="rId38"/>
  </p:handoutMasterIdLst>
  <p:sldIdLst>
    <p:sldId id="256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73" r:id="rId15"/>
    <p:sldId id="374" r:id="rId16"/>
    <p:sldId id="376" r:id="rId17"/>
    <p:sldId id="370" r:id="rId18"/>
    <p:sldId id="369" r:id="rId19"/>
    <p:sldId id="371" r:id="rId20"/>
    <p:sldId id="342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368" r:id="rId35"/>
    <p:sldId id="375" r:id="rId36"/>
  </p:sldIdLst>
  <p:sldSz cx="9144000" cy="5143500" type="screen16x9"/>
  <p:notesSz cx="6858000" cy="9144000"/>
  <p:embeddedFontLst>
    <p:embeddedFont>
      <p:font typeface="DM Sans" pitchFamily="2" charset="0"/>
      <p:regular r:id="rId39"/>
      <p:bold r:id="rId40"/>
      <p:italic r:id="rId41"/>
      <p:boldItalic r:id="rId42"/>
    </p:embeddedFont>
    <p:embeddedFont>
      <p:font typeface="Funnel Display" panose="020B0604020202020204" charset="0"/>
      <p:regular r:id="rId43"/>
      <p:bold r:id="rId44"/>
    </p:embeddedFont>
    <p:embeddedFont>
      <p:font typeface="Nunito Light" pitchFamily="2" charset="0"/>
      <p:regular r:id="rId45"/>
      <p:italic r:id="rId46"/>
    </p:embeddedFont>
    <p:embeddedFont>
      <p:font typeface="Open Sans" panose="020B0606030504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F8EFB0-4C6B-4B05-83CD-55DA23EE8B57}">
  <a:tblStyle styleId="{54F8EFB0-4C6B-4B05-83CD-55DA23EE8B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esha Alteneiji" userId="5b7b87901db5127d" providerId="LiveId" clId="{E0DF6D39-1C28-42BC-9638-E059D6D0F17A}"/>
    <pc:docChg chg="delSld">
      <pc:chgData name="Aaesha Alteneiji" userId="5b7b87901db5127d" providerId="LiveId" clId="{E0DF6D39-1C28-42BC-9638-E059D6D0F17A}" dt="2025-05-09T14:23:10.144" v="2" actId="47"/>
      <pc:docMkLst>
        <pc:docMk/>
      </pc:docMkLst>
      <pc:sldChg chg="del">
        <pc:chgData name="Aaesha Alteneiji" userId="5b7b87901db5127d" providerId="LiveId" clId="{E0DF6D39-1C28-42BC-9638-E059D6D0F17A}" dt="2025-05-09T14:22:59.232" v="0" actId="47"/>
        <pc:sldMkLst>
          <pc:docMk/>
          <pc:sldMk cId="601939501" sldId="343"/>
        </pc:sldMkLst>
      </pc:sldChg>
      <pc:sldChg chg="del">
        <pc:chgData name="Aaesha Alteneiji" userId="5b7b87901db5127d" providerId="LiveId" clId="{E0DF6D39-1C28-42BC-9638-E059D6D0F17A}" dt="2025-05-09T14:23:10.144" v="2" actId="47"/>
        <pc:sldMkLst>
          <pc:docMk/>
          <pc:sldMk cId="4230332149" sldId="344"/>
        </pc:sldMkLst>
      </pc:sldChg>
      <pc:sldChg chg="del">
        <pc:chgData name="Aaesha Alteneiji" userId="5b7b87901db5127d" providerId="LiveId" clId="{E0DF6D39-1C28-42BC-9638-E059D6D0F17A}" dt="2025-05-09T14:23:06.851" v="1" actId="47"/>
        <pc:sldMkLst>
          <pc:docMk/>
          <pc:sldMk cId="2908096086" sldId="3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3502E0-DCC6-57A8-3A5E-2BE724265E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A5FBC-6E7D-B46E-2631-4796A00C49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14217-5643-4DF6-B50E-1450B436A7B2}" type="datetimeFigureOut">
              <a:rPr lang="en-AE" smtClean="0"/>
              <a:t>09/05/2025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A7BEB-7554-34A5-F333-26A34F0853C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B2883-ABB6-5A74-65CA-C5B5084CC3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01CE0-B715-45EF-B7BA-A2E0C1B3C4C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283985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5DD3361E-6B37-3F1F-096C-8987B7797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66E5E4E3-5929-08BE-98E3-3035AB152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4E62A1F7-5996-05CE-B084-4A78082D82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649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FF52056E-0E4A-2073-E019-FA4345FE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47C4363D-698D-9247-B540-B073718C4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8418C827-A41C-8F71-FF6A-A999E8BB8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788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089897C-AA05-1D6B-4724-1F8A2D21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748FB6CB-5741-5336-2ECF-0BF39BDD0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D7EB3340-9CEB-2315-C4B2-378632070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198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4BC4FC9-8117-9A96-9739-640B71DF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3A32310B-E5AC-5D02-3FF7-4D4E519F5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4D31A24F-8B3E-7A90-B09C-E9B668D91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2314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C8D140C-D991-11EE-8BBA-6B5EBD62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C58B7DBD-7E99-24E6-3ABF-A225999A66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38B84B15-11B4-B991-E443-C1CE59826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015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6C47C5D-C779-1780-2FED-77DF00D0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18A02752-863A-B320-FB45-2827BD8A0A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F6C88FBA-F29E-E374-ABBD-B4D62E9F1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324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79B6511-62A6-DC07-2E99-CDC7B1238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33900AAD-47F3-A519-F499-9ED7578BF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904DE11D-D5FC-307B-4ED5-AF460604B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728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EA1C782-FEBF-A2AB-9F5B-7DB71220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9DC1DF73-8E8B-2C67-BBC7-1B1F4CDAB6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E6E34FF9-4BB0-6F34-F289-2F6D20F48A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874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D8CE6E8-1F0D-F849-95C8-5CD98DBE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110D63F2-2948-4F9C-2E67-3A77E48810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7E21B3DF-1D8F-ECDD-4FC9-0C1291760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9798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F19FD4F5-C312-325C-DEC7-07F8FC5E7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FB61CBEC-1F60-008A-2179-D07F39131C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F61DA248-55B7-DB57-69C9-F6454C9B8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134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C28F341-E438-C343-9E3F-091F98635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5C906AAC-7623-BC7F-4344-B27244A11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C1FEA89C-FDB7-0A80-4ECB-0EECAD840B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083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0DE5FFE-8648-CE21-B98B-C314C322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F64656AF-33C9-3E67-32F3-C1DA1FD2E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78F0730A-45F7-FD40-254B-E5616A325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1728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FB075D0B-B700-64AA-19A2-79151089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33AC1DAF-C288-322D-1D6A-9049800237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298E8CD9-4294-B596-9475-4C5EC63E5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194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2C96B73-8005-AF9A-32B8-E6835DAC9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01450326-12FE-C433-D945-306E23FB39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DA08228F-FA59-0B31-25DA-73DF43B9B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362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FB24AF7-9852-03A2-F7C0-D5B76588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CCA4B19D-4E26-BE2B-0313-29F116E22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99B25794-ADF4-ADEB-ECB5-D479DAFA3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433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5001AAC-4B94-48D8-133E-EC8590B7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87237332-703D-DE04-6452-343E946098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D7A5FA54-42A0-0E43-F7F3-3C1083CE0D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110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0935331-3DA1-6537-E7D9-0DCC988A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7BCBAB52-8009-E772-2FC2-52EF28E10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FD2A65EE-AFB5-5C18-CDB7-0A28117D0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45691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1BFCF9EC-6A69-8A28-1B62-FF8647A3C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1FE816D7-5338-E60D-B7B0-318F80677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635C9F67-F28E-6BC3-94A1-5686340C9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6376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9431347D-C7BE-FBD2-7DFD-DB3698F1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982F809B-BA7C-AD3E-A390-9F5CA60AF2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E9C7FED1-3E42-7767-386F-CAC41ACD7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0710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1DDB738B-E919-EA66-1497-54E8AC48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6962C42B-5451-7066-9C8F-D0112900F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4EBD4A30-DE13-623E-CA93-D5A0E6D1B6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9380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11FF99B0-5743-97CA-61AC-3D6D8AA1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3BAFB8BD-456E-A2AE-09E9-A670D1EC4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34392AD8-920C-4F0D-E9BE-9E9F14050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08630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7A10CA15-8B56-121B-678F-BF9E2D4C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8F03C9D0-F8E5-CECE-54F5-6C11E904E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E92EAF0E-131C-029A-BDED-833883C893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76302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FC24B564-51FD-6801-54DB-66B52A361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B244BCCA-AEE0-9CB0-AC69-E6F2EC224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E305C0D1-04C6-ECB9-15EE-6DF2FED3D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34531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8F4B554-CDA5-57E3-39C9-EA4F85B74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081D889E-019E-0829-6986-EE9EC54B74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793248BF-D0F5-55F9-E7E6-93E299751E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2818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4D35CAB-5314-7178-53BB-0AC1CAA2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1CB78C63-D4AD-46F3-E895-96F835B8F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EFA4530D-161E-7BE3-1B24-4B51E308F6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4462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EEA71382-66C0-5709-6293-3098AFA9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78EC553B-915F-A801-00CC-FC846764A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698E9507-C8F9-4D02-9AB0-68AD83D21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865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83B93011-4C17-ED62-B131-3CEAEF4B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3C358FDB-12DE-1005-375F-3EF64F03C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9AE45ABD-B81B-B601-B4C6-F16A423EF9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17972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CEA631A-C765-199D-7EFF-EC60429C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9bffbd1fc_0_503:notes">
            <a:extLst>
              <a:ext uri="{FF2B5EF4-FFF2-40B4-BE49-F238E27FC236}">
                <a16:creationId xmlns:a16="http://schemas.microsoft.com/office/drawing/2014/main" id="{62E3BCDB-20AB-3441-967F-4B31913F8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9bffbd1fc_0_503:notes">
            <a:extLst>
              <a:ext uri="{FF2B5EF4-FFF2-40B4-BE49-F238E27FC236}">
                <a16:creationId xmlns:a16="http://schemas.microsoft.com/office/drawing/2014/main" id="{B9819A97-AB2A-7A9A-DA12-DE8C0E860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36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shadow-background-natural-palm-leaves.jpg"/>
          <p:cNvPicPr preferRelativeResize="0"/>
          <p:nvPr/>
        </p:nvPicPr>
        <p:blipFill rotWithShape="1">
          <a:blip r:embed="rId2">
            <a:alphaModFix/>
          </a:blip>
          <a:srcRect b="15597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70625" y="828100"/>
            <a:ext cx="8116200" cy="13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57100" y="3834200"/>
            <a:ext cx="80298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abstract-grainy-texture-background (2).jpg"/>
          <p:cNvPicPr preferRelativeResize="0"/>
          <p:nvPr/>
        </p:nvPicPr>
        <p:blipFill rotWithShape="1">
          <a:blip r:embed="rId2">
            <a:alphaModFix/>
          </a:blip>
          <a:srcRect b="1536"/>
          <a:stretch/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76150" y="1670492"/>
            <a:ext cx="4342200" cy="178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542675" y="2965200"/>
            <a:ext cx="3014700" cy="15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464025" y="424696"/>
            <a:ext cx="8598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160700"/>
            <a:ext cx="7704000" cy="4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2" name="Google Shape;22;p4" title="shadow-background-natural-palm-leaves.jpg"/>
          <p:cNvPicPr preferRelativeResize="0"/>
          <p:nvPr/>
        </p:nvPicPr>
        <p:blipFill rotWithShape="1">
          <a:blip r:embed="rId2">
            <a:alphaModFix/>
          </a:blip>
          <a:srcRect l="49537" r="49537"/>
          <a:stretch/>
        </p:blipFill>
        <p:spPr>
          <a:xfrm rot="5400000">
            <a:off x="4536451" y="591802"/>
            <a:ext cx="121375" cy="8737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4"/>
          <p:cNvCxnSpPr/>
          <p:nvPr/>
        </p:nvCxnSpPr>
        <p:spPr>
          <a:xfrm>
            <a:off x="218850" y="235950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C0CDEA-9E83-5123-2EDB-48D9C83C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3025" y="4638751"/>
            <a:ext cx="643645" cy="342624"/>
          </a:xfrm>
          <a:prstGeom prst="rect">
            <a:avLst/>
          </a:prstGeom>
        </p:spPr>
        <p:txBody>
          <a:bodyPr/>
          <a:lstStyle/>
          <a:p>
            <a:fld id="{4667DDB0-E2E2-415A-AC45-728D083698E8}" type="slidenum">
              <a:rPr lang="en-AE" smtClean="0"/>
              <a:t>‹#›</a:t>
            </a:fld>
            <a:endParaRPr lang="en-A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 title="shadow-background-natural-palm-leaves.jpg"/>
          <p:cNvPicPr preferRelativeResize="0"/>
          <p:nvPr/>
        </p:nvPicPr>
        <p:blipFill rotWithShape="1">
          <a:blip r:embed="rId2">
            <a:alphaModFix/>
          </a:blip>
          <a:srcRect l="49537" r="49537"/>
          <a:stretch/>
        </p:blipFill>
        <p:spPr>
          <a:xfrm rot="5400000">
            <a:off x="4536451" y="591802"/>
            <a:ext cx="121375" cy="8737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4"/>
          <p:cNvCxnSpPr/>
          <p:nvPr/>
        </p:nvCxnSpPr>
        <p:spPr>
          <a:xfrm>
            <a:off x="218850" y="929854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C0CDEA-9E83-5123-2EDB-48D9C83C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3025" y="4638751"/>
            <a:ext cx="643645" cy="342624"/>
          </a:xfrm>
          <a:prstGeom prst="rect">
            <a:avLst/>
          </a:prstGeom>
        </p:spPr>
        <p:txBody>
          <a:bodyPr/>
          <a:lstStyle/>
          <a:p>
            <a:fld id="{4667DDB0-E2E2-415A-AC45-728D083698E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18374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483675" y="529125"/>
            <a:ext cx="4644300" cy="11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7"/>
          <p:cNvSpPr>
            <a:spLocks noGrp="1"/>
          </p:cNvSpPr>
          <p:nvPr>
            <p:ph type="pic" idx="2"/>
          </p:nvPr>
        </p:nvSpPr>
        <p:spPr>
          <a:xfrm>
            <a:off x="228550" y="238200"/>
            <a:ext cx="3009000" cy="467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3483675" y="1953400"/>
            <a:ext cx="4172400" cy="24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57100" y="1771800"/>
            <a:ext cx="5657400" cy="16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37" name="Google Shape;37;p8"/>
          <p:cNvCxnSpPr/>
          <p:nvPr/>
        </p:nvCxnSpPr>
        <p:spPr>
          <a:xfrm>
            <a:off x="218850" y="252463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8"/>
          <p:cNvCxnSpPr/>
          <p:nvPr/>
        </p:nvCxnSpPr>
        <p:spPr>
          <a:xfrm>
            <a:off x="218850" y="4891038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4903975" y="529125"/>
            <a:ext cx="3565200" cy="412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49538"/>
            <a:ext cx="6576000" cy="13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1284000" y="280752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9" name="Google Shape;49;p11"/>
          <p:cNvCxnSpPr/>
          <p:nvPr/>
        </p:nvCxnSpPr>
        <p:spPr>
          <a:xfrm>
            <a:off x="218850" y="272663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50;p11"/>
          <p:cNvCxnSpPr/>
          <p:nvPr/>
        </p:nvCxnSpPr>
        <p:spPr>
          <a:xfrm>
            <a:off x="218850" y="4870838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08600" y="3163350"/>
            <a:ext cx="4383600" cy="15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 idx="2" hasCustomPrompt="1"/>
          </p:nvPr>
        </p:nvSpPr>
        <p:spPr>
          <a:xfrm>
            <a:off x="437825" y="460350"/>
            <a:ext cx="1332600" cy="6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5"/>
          <p:cNvSpPr>
            <a:spLocks noGrp="1"/>
          </p:cNvSpPr>
          <p:nvPr>
            <p:ph type="pic" idx="3"/>
          </p:nvPr>
        </p:nvSpPr>
        <p:spPr>
          <a:xfrm>
            <a:off x="6214025" y="151774"/>
            <a:ext cx="2760600" cy="483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228925" y="2268750"/>
            <a:ext cx="33351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1734212" y="100"/>
            <a:ext cx="3204000" cy="2612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>
            <a:spLocks noGrp="1"/>
          </p:cNvSpPr>
          <p:nvPr>
            <p:ph type="pic" idx="3"/>
          </p:nvPr>
        </p:nvSpPr>
        <p:spPr>
          <a:xfrm>
            <a:off x="0" y="100"/>
            <a:ext cx="1683900" cy="2612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6"/>
          <p:cNvSpPr>
            <a:spLocks noGrp="1"/>
          </p:cNvSpPr>
          <p:nvPr>
            <p:ph type="pic" idx="4"/>
          </p:nvPr>
        </p:nvSpPr>
        <p:spPr>
          <a:xfrm>
            <a:off x="0" y="2664100"/>
            <a:ext cx="3288000" cy="247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6"/>
          <p:cNvSpPr>
            <a:spLocks noGrp="1"/>
          </p:cNvSpPr>
          <p:nvPr>
            <p:ph type="pic" idx="5"/>
          </p:nvPr>
        </p:nvSpPr>
        <p:spPr>
          <a:xfrm>
            <a:off x="3336275" y="2664050"/>
            <a:ext cx="1607100" cy="2479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1" name="Google Shape;71;p16"/>
          <p:cNvCxnSpPr/>
          <p:nvPr/>
        </p:nvCxnSpPr>
        <p:spPr>
          <a:xfrm>
            <a:off x="8915400" y="357900"/>
            <a:ext cx="0" cy="442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2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>
            <a:spLocks noGrp="1"/>
          </p:cNvSpPr>
          <p:nvPr>
            <p:ph type="pic" idx="2"/>
          </p:nvPr>
        </p:nvSpPr>
        <p:spPr>
          <a:xfrm>
            <a:off x="-6750" y="-34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-7865" y="4055825"/>
            <a:ext cx="3565200" cy="412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70" r:id="rId4"/>
    <p:sldLayoutId id="2147483653" r:id="rId5"/>
    <p:sldLayoutId id="2147483654" r:id="rId6"/>
    <p:sldLayoutId id="2147483656" r:id="rId7"/>
    <p:sldLayoutId id="2147483657" r:id="rId8"/>
    <p:sldLayoutId id="2147483661" r:id="rId9"/>
    <p:sldLayoutId id="2147483662" r:id="rId10"/>
    <p:sldLayoutId id="214748366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44">
          <p15:clr>
            <a:srgbClr val="EA4335"/>
          </p15:clr>
        </p15:guide>
        <p15:guide id="2" pos="5616">
          <p15:clr>
            <a:srgbClr val="EA4335"/>
          </p15:clr>
        </p15:guide>
        <p15:guide id="3" orient="horz" pos="150">
          <p15:clr>
            <a:srgbClr val="EA4335"/>
          </p15:clr>
        </p15:guide>
        <p15:guide id="4" orient="horz" pos="3096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15.jpe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1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1" Type="http://schemas.openxmlformats.org/officeDocument/2006/relationships/image" Target="../media/image13.png"/><Relationship Id="rId5" Type="http://schemas.openxmlformats.org/officeDocument/2006/relationships/image" Target="../media/image34.png"/><Relationship Id="rId15" Type="http://schemas.openxmlformats.org/officeDocument/2006/relationships/image" Target="../media/image17.jpeg"/><Relationship Id="rId10" Type="http://schemas.openxmlformats.org/officeDocument/2006/relationships/image" Target="../media/image12.jpe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>
            <a:spLocks noGrp="1"/>
          </p:cNvSpPr>
          <p:nvPr>
            <p:ph type="ctrTitle"/>
          </p:nvPr>
        </p:nvSpPr>
        <p:spPr>
          <a:xfrm>
            <a:off x="470625" y="828099"/>
            <a:ext cx="8116200" cy="2185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800" dirty="0"/>
              <a:t>Minimum Spanning Tree (MST) for Optimizing Pollution Monitoring Networks 🌲</a:t>
            </a:r>
            <a:br>
              <a:rPr lang="en-GB" sz="2800" dirty="0"/>
            </a:br>
            <a:br>
              <a:rPr lang="en-GB" sz="2800" dirty="0"/>
            </a:br>
            <a:r>
              <a:rPr lang="en-GB" sz="1200" b="1" dirty="0"/>
              <a:t>Foundations of Data Science 1501564 – Final Project</a:t>
            </a:r>
            <a:br>
              <a:rPr lang="en-GB" sz="1100" dirty="0"/>
            </a:br>
            <a:br>
              <a:rPr lang="en-GB" sz="1100" dirty="0"/>
            </a:br>
            <a:br>
              <a:rPr lang="en-GB" sz="1100" dirty="0"/>
            </a:br>
            <a:endParaRPr lang="en-GB" sz="2800" dirty="0"/>
          </a:p>
        </p:txBody>
      </p:sp>
      <p:sp>
        <p:nvSpPr>
          <p:cNvPr id="99" name="Google Shape;99;p24"/>
          <p:cNvSpPr txBox="1">
            <a:spLocks noGrp="1"/>
          </p:cNvSpPr>
          <p:nvPr>
            <p:ph type="subTitle" idx="1"/>
          </p:nvPr>
        </p:nvSpPr>
        <p:spPr>
          <a:xfrm>
            <a:off x="6489879" y="4267789"/>
            <a:ext cx="24147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/>
              <a:t>Done by 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 err="1"/>
              <a:t>GeoDevelopers</a:t>
            </a:r>
            <a:r>
              <a:rPr lang="en-GB" sz="1100" dirty="0"/>
              <a:t> Team </a:t>
            </a:r>
          </a:p>
        </p:txBody>
      </p:sp>
      <p:cxnSp>
        <p:nvCxnSpPr>
          <p:cNvPr id="100" name="Google Shape;100;p24"/>
          <p:cNvCxnSpPr/>
          <p:nvPr/>
        </p:nvCxnSpPr>
        <p:spPr>
          <a:xfrm>
            <a:off x="557100" y="678600"/>
            <a:ext cx="8029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820C5AF-3294-0F19-D6B6-6735A53CD56D}"/>
              </a:ext>
            </a:extLst>
          </p:cNvPr>
          <p:cNvSpPr txBox="1"/>
          <p:nvPr/>
        </p:nvSpPr>
        <p:spPr>
          <a:xfrm>
            <a:off x="557100" y="2703438"/>
            <a:ext cx="6075519" cy="151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Funnel Display" panose="020B0604020202020204" charset="0"/>
                <a:cs typeface="Funnel Display" panose="020B0604020202020204" charset="0"/>
              </a:rPr>
              <a:t>Aaesha Saleh Abdulrahman </a:t>
            </a:r>
            <a:r>
              <a:rPr lang="en-GB" sz="1200" dirty="0" err="1">
                <a:latin typeface="Funnel Display" panose="020B0604020202020204" charset="0"/>
                <a:cs typeface="Funnel Display" panose="020B0604020202020204" charset="0"/>
              </a:rPr>
              <a:t>BinDarwish</a:t>
            </a:r>
            <a:r>
              <a:rPr lang="en-GB" sz="1200" dirty="0">
                <a:latin typeface="Funnel Display" panose="020B0604020202020204" charset="0"/>
                <a:cs typeface="Funnel Display" panose="020B0604020202020204" charset="0"/>
              </a:rPr>
              <a:t> </a:t>
            </a:r>
            <a:r>
              <a:rPr lang="en-GB" sz="1200" err="1">
                <a:latin typeface="Funnel Display" panose="020B0604020202020204" charset="0"/>
                <a:cs typeface="Funnel Display" panose="020B0604020202020204" charset="0"/>
              </a:rPr>
              <a:t>Alteneiji</a:t>
            </a:r>
            <a:r>
              <a:rPr lang="en-GB" sz="1200" dirty="0">
                <a:latin typeface="Funnel Display" panose="020B0604020202020204" charset="0"/>
                <a:cs typeface="Funnel Display" panose="020B0604020202020204" charset="0"/>
              </a:rPr>
              <a:t> - U24102490      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Funnel Display" panose="020B0604020202020204" charset="0"/>
                <a:cs typeface="Funnel Display" panose="020B0604020202020204" charset="0"/>
              </a:rPr>
              <a:t>Ahuod</a:t>
            </a:r>
            <a:r>
              <a:rPr lang="en-GB" sz="1200" dirty="0">
                <a:latin typeface="Funnel Display" panose="020B0604020202020204" charset="0"/>
                <a:cs typeface="Funnel Display" panose="020B0604020202020204" charset="0"/>
              </a:rPr>
              <a:t> Yousuf Mohammad Hassan </a:t>
            </a:r>
            <a:r>
              <a:rPr lang="en-GB" sz="1200">
                <a:latin typeface="Funnel Display" panose="020B0604020202020204" charset="0"/>
                <a:cs typeface="Funnel Display" panose="020B0604020202020204" charset="0"/>
              </a:rPr>
              <a:t>Albalooshi</a:t>
            </a:r>
            <a:r>
              <a:rPr lang="en-GB" sz="1200" dirty="0">
                <a:latin typeface="Funnel Display" panose="020B0604020202020204" charset="0"/>
                <a:cs typeface="Funnel Display" panose="020B0604020202020204" charset="0"/>
              </a:rPr>
              <a:t> - U24105514</a:t>
            </a:r>
          </a:p>
          <a:p>
            <a:pPr>
              <a:lnSpc>
                <a:spcPct val="200000"/>
              </a:lnSpc>
            </a:pPr>
            <a:r>
              <a:rPr lang="en-GB" sz="1200" dirty="0">
                <a:latin typeface="Funnel Display" panose="020B0604020202020204" charset="0"/>
                <a:cs typeface="Funnel Display" panose="020B0604020202020204" charset="0"/>
              </a:rPr>
              <a:t>Kulsum Ameen Ahmed Ameen - U24200613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Funnel Display" panose="020B0604020202020204" charset="0"/>
                <a:cs typeface="Funnel Display" panose="020B0604020202020204" charset="0"/>
              </a:rPr>
              <a:t>Ghalya Abdalla Mohammad Bakhit </a:t>
            </a:r>
            <a:r>
              <a:rPr lang="en-GB" sz="1200" dirty="0" err="1">
                <a:latin typeface="Funnel Display" panose="020B0604020202020204" charset="0"/>
                <a:cs typeface="Funnel Display" panose="020B0604020202020204" charset="0"/>
              </a:rPr>
              <a:t>Almesafri</a:t>
            </a:r>
            <a:r>
              <a:rPr lang="en-GB" sz="1200" dirty="0">
                <a:latin typeface="Funnel Display" panose="020B0604020202020204" charset="0"/>
                <a:cs typeface="Funnel Display" panose="020B0604020202020204" charset="0"/>
              </a:rPr>
              <a:t> - U24200486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052579D4-2B6A-2BC9-D31E-F7EF1DEB9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033437-A6A0-2F1A-610A-2E2FBBB7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9D047E7A-EB0D-D654-20B0-BE5585E369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1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Introduction</a:t>
            </a:r>
            <a:endParaRPr lang="en-US" sz="3600"/>
          </a:p>
        </p:txBody>
      </p:sp>
      <p:sp>
        <p:nvSpPr>
          <p:cNvPr id="6" name="Google Shape;115;p26">
            <a:extLst>
              <a:ext uri="{FF2B5EF4-FFF2-40B4-BE49-F238E27FC236}">
                <a16:creationId xmlns:a16="http://schemas.microsoft.com/office/drawing/2014/main" id="{45A9FA2E-9852-2B64-0842-21387647931F}"/>
              </a:ext>
            </a:extLst>
          </p:cNvPr>
          <p:cNvSpPr txBox="1">
            <a:spLocks/>
          </p:cNvSpPr>
          <p:nvPr/>
        </p:nvSpPr>
        <p:spPr>
          <a:xfrm>
            <a:off x="324000" y="1080000"/>
            <a:ext cx="4649516" cy="348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Focus: </a:t>
            </a:r>
            <a:r>
              <a:rPr lang="en-US" sz="1800" dirty="0"/>
              <a:t>Optimize air pollution monitoring using real-world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Dataset: </a:t>
            </a:r>
            <a:r>
              <a:rPr lang="en-US" sz="1800" dirty="0"/>
              <a:t>121 sensor locations across Chicago (since July 2021)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Parameters: </a:t>
            </a:r>
            <a:r>
              <a:rPr lang="en-US" sz="1800" dirty="0"/>
              <a:t>PM2.5, O₃, NO₂, CO, temperature, humidity,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Challenges: </a:t>
            </a:r>
            <a:r>
              <a:rPr lang="en-US" sz="1800" dirty="0"/>
              <a:t>Large, geo-referenced, complex dataset</a:t>
            </a:r>
          </a:p>
          <a:p>
            <a:pPr marL="152400" indent="0">
              <a:buNone/>
            </a:pPr>
            <a:endParaRPr lang="en-US" sz="1800" dirty="0"/>
          </a:p>
        </p:txBody>
      </p:sp>
      <p:pic>
        <p:nvPicPr>
          <p:cNvPr id="4" name="Picture 3" descr="A network of colored dots and lines&#10;&#10;AI-generated content may be incorrect.">
            <a:extLst>
              <a:ext uri="{FF2B5EF4-FFF2-40B4-BE49-F238E27FC236}">
                <a16:creationId xmlns:a16="http://schemas.microsoft.com/office/drawing/2014/main" id="{C3B5A296-7713-EA1A-E644-4A870F38A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832" y="1080000"/>
            <a:ext cx="3358650" cy="335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0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27804EDD-7442-BE5F-0A1B-B6481348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D37E0-ABF4-53FB-31C6-2D9C0DC2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3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61913EBB-9ABA-FAE9-BF49-BAD42B8EBE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10"/>
            <a:ext cx="7702550" cy="573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Objective</a:t>
            </a:r>
          </a:p>
        </p:txBody>
      </p:sp>
      <p:sp>
        <p:nvSpPr>
          <p:cNvPr id="5" name="Google Shape;115;p26">
            <a:extLst>
              <a:ext uri="{FF2B5EF4-FFF2-40B4-BE49-F238E27FC236}">
                <a16:creationId xmlns:a16="http://schemas.microsoft.com/office/drawing/2014/main" id="{346CAFF4-FA05-9873-D778-EFAC33DCEC4F}"/>
              </a:ext>
            </a:extLst>
          </p:cNvPr>
          <p:cNvSpPr txBox="1">
            <a:spLocks/>
          </p:cNvSpPr>
          <p:nvPr/>
        </p:nvSpPr>
        <p:spPr>
          <a:xfrm>
            <a:off x="324000" y="1080000"/>
            <a:ext cx="6794652" cy="2999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52400">
              <a:lnSpc>
                <a:spcPct val="200000"/>
              </a:lnSpc>
              <a:spcAft>
                <a:spcPts val="800"/>
              </a:spcAft>
            </a:pPr>
            <a:r>
              <a:rPr lang="en-AE" sz="1800" kern="100" dirty="0">
                <a:latin typeface="Aptos"/>
                <a:ea typeface="Aptos" panose="020B0004020202020204" pitchFamily="34" charset="0"/>
              </a:rPr>
              <a:t>To create a smart and low-cost pollution monitoring network using Minimum Spanning Tree (MST) algorithms. </a:t>
            </a:r>
            <a:endParaRPr lang="en-AE" sz="1800" kern="100">
              <a:latin typeface="Aptos"/>
              <a:ea typeface="Aptos" panose="020B0004020202020204" pitchFamily="34" charset="0"/>
            </a:endParaRPr>
          </a:p>
          <a:p>
            <a:pPr marL="152400">
              <a:lnSpc>
                <a:spcPct val="200000"/>
              </a:lnSpc>
              <a:spcAft>
                <a:spcPts val="800"/>
              </a:spcAft>
            </a:pPr>
            <a:r>
              <a:rPr lang="en-AE" sz="1800" kern="100" dirty="0">
                <a:latin typeface="Aptos"/>
                <a:ea typeface="Aptos" panose="020B0004020202020204" pitchFamily="34" charset="0"/>
              </a:rPr>
              <a:t>The goal is to place sensors in the best possible locations so we can cover the whole area, reduce costs, and collect accurate pollution data. 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883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93A4095-114E-CA07-206F-633844445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59494A-6D8C-646F-7B5E-E3C88BBC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</a:t>
            </a:r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4EF33408-327C-C406-9D87-F51613C01C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Methodology</a:t>
            </a:r>
          </a:p>
        </p:txBody>
      </p:sp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820F3F04-78E8-7294-2488-F8EEE49E289F}"/>
              </a:ext>
            </a:extLst>
          </p:cNvPr>
          <p:cNvSpPr txBox="1">
            <a:spLocks/>
          </p:cNvSpPr>
          <p:nvPr/>
        </p:nvSpPr>
        <p:spPr>
          <a:xfrm>
            <a:off x="324000" y="1079999"/>
            <a:ext cx="6794652" cy="3558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381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latin typeface="Aptos"/>
                <a:ea typeface="Aptos" panose="020B0004020202020204" pitchFamily="34" charset="0"/>
              </a:rPr>
              <a:t>Collecting and cleaning data</a:t>
            </a:r>
          </a:p>
          <a:p>
            <a:pPr marL="4381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latin typeface="Aptos"/>
                <a:ea typeface="Aptos" panose="020B0004020202020204" pitchFamily="34" charset="0"/>
              </a:rPr>
              <a:t>Grouping and sampling data</a:t>
            </a:r>
          </a:p>
          <a:p>
            <a:pPr marL="4381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latin typeface="Aptos"/>
                <a:ea typeface="Aptos" panose="020B0004020202020204" pitchFamily="34" charset="0"/>
              </a:rPr>
              <a:t>Clustering data</a:t>
            </a:r>
          </a:p>
          <a:p>
            <a:pPr marL="4381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latin typeface="Aptos"/>
                <a:ea typeface="Aptos" panose="020B0004020202020204" pitchFamily="34" charset="0"/>
              </a:rPr>
              <a:t>Minimum Spanning Tree</a:t>
            </a:r>
          </a:p>
          <a:p>
            <a:pPr marL="4381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>
                <a:latin typeface="Aptos"/>
                <a:ea typeface="Aptos" panose="020B0004020202020204" pitchFamily="34" charset="0"/>
              </a:rPr>
              <a:t>Sensors Optimizing suggestion</a:t>
            </a:r>
          </a:p>
        </p:txBody>
      </p:sp>
      <p:pic>
        <p:nvPicPr>
          <p:cNvPr id="5" name="Picture 4" descr="A map of a city&#10;&#10;AI-generated content may be incorrect.">
            <a:extLst>
              <a:ext uri="{FF2B5EF4-FFF2-40B4-BE49-F238E27FC236}">
                <a16:creationId xmlns:a16="http://schemas.microsoft.com/office/drawing/2014/main" id="{B03DD710-BEBC-835B-A507-845769E34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613" y="2035176"/>
            <a:ext cx="5225287" cy="166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4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FAF687F2-D9E8-FF79-B7EB-05AE8FD6B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2123C8-692B-92A1-743E-4C9F0BCF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4</a:t>
            </a:r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2A1EB22E-E588-FE24-9643-FCC34B90B53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Results</a:t>
            </a:r>
          </a:p>
        </p:txBody>
      </p:sp>
      <p:pic>
        <p:nvPicPr>
          <p:cNvPr id="4" name="Picture 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BC2A3EB0-DBFF-D32B-945F-8EF1EA561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203243"/>
            <a:ext cx="3708000" cy="3149225"/>
          </a:xfrm>
          <a:prstGeom prst="rect">
            <a:avLst/>
          </a:prstGeom>
        </p:spPr>
      </p:pic>
      <p:pic>
        <p:nvPicPr>
          <p:cNvPr id="5" name="Picture 4" descr="A graph of pollution levels and reading date&#10;&#10;AI-generated content may be incorrect.">
            <a:extLst>
              <a:ext uri="{FF2B5EF4-FFF2-40B4-BE49-F238E27FC236}">
                <a16:creationId xmlns:a16="http://schemas.microsoft.com/office/drawing/2014/main" id="{0979EAC4-9E3B-48D0-3755-78C16E4C9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03293"/>
            <a:ext cx="3708000" cy="315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2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D4D2F00-D7A3-D0AD-D51C-5BE29807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AA858A-A6D2-CBF5-B9F9-3B5C400C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5</a:t>
            </a:r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D6376001-5DF3-7BC5-F8D1-30324A0F9F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7271F1-00CC-484B-4854-EAD5AE2F0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9" y="1201752"/>
            <a:ext cx="8342226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DC2EC30-7C7E-2AA5-E72E-85D2DA37D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C60AE7-8C62-6C0C-50D3-3817A4D6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6</a:t>
            </a:r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75B950D8-A975-909F-8D5A-A1E233C8C3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69021-47A0-ECE3-BF07-CC9399238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202400"/>
            <a:ext cx="8427156" cy="283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87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1404292-BCB9-3FF3-269E-9374E955B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6EA98-AC6F-D2DD-B8BF-43BB6B9E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</a:t>
            </a:r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910EA545-8A81-50AF-AE58-D960D4A36D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B873B9-EA1D-A085-961B-DCBCF9844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30" y="1152000"/>
            <a:ext cx="6553765" cy="358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9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9CEA99A-FFAA-9B61-B601-757AC2B3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DA90DA-0EC3-BF8E-CA0E-A4CA9B35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8</a:t>
            </a:r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0DF9A80B-7F55-F30F-32FD-A53350CE42F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BE9E22-7BFC-3392-FB3A-7151E28CB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152000"/>
            <a:ext cx="6495226" cy="35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AAF4807-DB5F-90CE-250A-864A5CAA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136364-0BD9-6752-6AB8-E3C939BF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9</a:t>
            </a:r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A20A5121-0D4E-A92B-F75A-4556849F79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B70906-88E2-ADCD-865C-3B34A2EF1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152000"/>
            <a:ext cx="6513452" cy="358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91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E653-CD3E-2EEA-F408-43E25163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E7EA28-F3D6-A679-06FD-88D4BF4A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AE"/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B22B19-79D4-53C1-38C5-3F23B33D1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279" y="1085229"/>
            <a:ext cx="2420948" cy="2617200"/>
          </a:xfrm>
          <a:prstGeom prst="rect">
            <a:avLst/>
          </a:prstGeom>
          <a:noFill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BDFF49C-43DE-80A0-1D9F-A82578ECDD15}"/>
              </a:ext>
            </a:extLst>
          </p:cNvPr>
          <p:cNvSpPr txBox="1"/>
          <p:nvPr/>
        </p:nvSpPr>
        <p:spPr>
          <a:xfrm>
            <a:off x="6224708" y="3758586"/>
            <a:ext cx="2072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>
                <a:latin typeface="Funnel Display" panose="020B0604020202020204" charset="0"/>
              </a:rPr>
              <a:t>average PM2.5 concentration levels</a:t>
            </a:r>
            <a:endParaRPr lang="en-AE" sz="800">
              <a:latin typeface="Funnel Display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DE11D9-85AB-54F0-50ED-059FF4D0EA12}"/>
              </a:ext>
            </a:extLst>
          </p:cNvPr>
          <p:cNvSpPr txBox="1"/>
          <p:nvPr/>
        </p:nvSpPr>
        <p:spPr>
          <a:xfrm>
            <a:off x="3535954" y="3754822"/>
            <a:ext cx="2072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>
                <a:latin typeface="Funnel Display" panose="020B0604020202020204" charset="0"/>
              </a:rPr>
              <a:t>temperature</a:t>
            </a:r>
            <a:endParaRPr lang="en-AE" sz="800">
              <a:latin typeface="Funnel Display" panose="020B060402020202020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47F1E5-E5A6-25B7-2F02-930857BC15A6}"/>
              </a:ext>
            </a:extLst>
          </p:cNvPr>
          <p:cNvSpPr txBox="1"/>
          <p:nvPr/>
        </p:nvSpPr>
        <p:spPr>
          <a:xfrm>
            <a:off x="723833" y="3755668"/>
            <a:ext cx="2072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>
                <a:latin typeface="Funnel Display" panose="020B0604020202020204" charset="0"/>
              </a:rPr>
              <a:t>heatmap of temperature</a:t>
            </a:r>
            <a:endParaRPr lang="en-AE" sz="800">
              <a:latin typeface="Funnel Display" panose="020B060402020202020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87F3960-C535-F2C6-1551-9D113CA3D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80" y="1085229"/>
            <a:ext cx="2515859" cy="2617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BB379DD-41D3-2104-8D93-0207CF42C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080" y="1077440"/>
            <a:ext cx="2512523" cy="2617200"/>
          </a:xfrm>
          <a:prstGeom prst="rect">
            <a:avLst/>
          </a:prstGeom>
        </p:spPr>
      </p:pic>
      <p:sp>
        <p:nvSpPr>
          <p:cNvPr id="4" name="Google Shape;106;p25">
            <a:extLst>
              <a:ext uri="{FF2B5EF4-FFF2-40B4-BE49-F238E27FC236}">
                <a16:creationId xmlns:a16="http://schemas.microsoft.com/office/drawing/2014/main" id="{37C7F294-F552-0334-7798-C2F949AF44F1}"/>
              </a:ext>
            </a:extLst>
          </p:cNvPr>
          <p:cNvSpPr txBox="1">
            <a:spLocks/>
          </p:cNvSpPr>
          <p:nvPr/>
        </p:nvSpPr>
        <p:spPr>
          <a:xfrm>
            <a:off x="284018" y="243609"/>
            <a:ext cx="7702550" cy="684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>
            <a:r>
              <a:rPr lang="en-US" sz="3600"/>
              <a:t>Results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13399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7D2F1-1B81-53E7-E9CB-E924491A0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EB8692-2518-A99A-8D39-52AF19AF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12</a:t>
            </a:fld>
            <a:endParaRPr lang="en-AE"/>
          </a:p>
        </p:txBody>
      </p:sp>
      <p:pic>
        <p:nvPicPr>
          <p:cNvPr id="7" name="Picture 6" descr="A map with different colored squares&#10;&#10;AI-generated content may be incorrect.">
            <a:extLst>
              <a:ext uri="{FF2B5EF4-FFF2-40B4-BE49-F238E27FC236}">
                <a16:creationId xmlns:a16="http://schemas.microsoft.com/office/drawing/2014/main" id="{A39D249A-0D7E-2DA2-BB84-F9B60BCD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41" y="1263150"/>
            <a:ext cx="2345507" cy="2617200"/>
          </a:xfrm>
          <a:prstGeom prst="rect">
            <a:avLst/>
          </a:prstGeom>
        </p:spPr>
      </p:pic>
      <p:pic>
        <p:nvPicPr>
          <p:cNvPr id="9" name="Picture 8" descr="A map with many squares&#10;&#10;AI-generated content may be incorrect.">
            <a:extLst>
              <a:ext uri="{FF2B5EF4-FFF2-40B4-BE49-F238E27FC236}">
                <a16:creationId xmlns:a16="http://schemas.microsoft.com/office/drawing/2014/main" id="{19CF1586-1461-B5AF-96A8-BD14DC0D1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481" y="1263150"/>
            <a:ext cx="2345507" cy="2617200"/>
          </a:xfrm>
          <a:prstGeom prst="rect">
            <a:avLst/>
          </a:prstGeom>
        </p:spPr>
      </p:pic>
      <p:pic>
        <p:nvPicPr>
          <p:cNvPr id="12" name="Picture 11" descr="A map with blue and gray squares&#10;&#10;AI-generated content may be incorrect.">
            <a:extLst>
              <a:ext uri="{FF2B5EF4-FFF2-40B4-BE49-F238E27FC236}">
                <a16:creationId xmlns:a16="http://schemas.microsoft.com/office/drawing/2014/main" id="{8EAD3B1D-7D61-C28F-ED80-15048CCD9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221" y="1263150"/>
            <a:ext cx="2342397" cy="26172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9E56ED7-1C56-9EE9-7672-A8D973403F84}"/>
              </a:ext>
            </a:extLst>
          </p:cNvPr>
          <p:cNvSpPr txBox="1"/>
          <p:nvPr/>
        </p:nvSpPr>
        <p:spPr>
          <a:xfrm>
            <a:off x="6017915" y="3940190"/>
            <a:ext cx="2072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>
                <a:latin typeface="Funnel Display" panose="020B0604020202020204" charset="0"/>
              </a:rPr>
              <a:t>Calibrated PM2.5 </a:t>
            </a:r>
            <a:endParaRPr lang="en-AE" sz="800">
              <a:latin typeface="Funnel Display" panose="020B060402020202020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D11351-BFCF-BF99-C5CC-ABFACE29130A}"/>
              </a:ext>
            </a:extLst>
          </p:cNvPr>
          <p:cNvSpPr txBox="1"/>
          <p:nvPr/>
        </p:nvSpPr>
        <p:spPr>
          <a:xfrm>
            <a:off x="3348170" y="3944930"/>
            <a:ext cx="2072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>
                <a:latin typeface="Funnel Display" panose="020B0604020202020204" charset="0"/>
              </a:rPr>
              <a:t>Calibrated O₃ </a:t>
            </a:r>
            <a:endParaRPr lang="en-AE" sz="800">
              <a:latin typeface="Funnel Display" panose="020B060402020202020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EC028D-D0FD-EEBC-A897-36B4534E519A}"/>
              </a:ext>
            </a:extLst>
          </p:cNvPr>
          <p:cNvSpPr txBox="1"/>
          <p:nvPr/>
        </p:nvSpPr>
        <p:spPr>
          <a:xfrm>
            <a:off x="678430" y="3940190"/>
            <a:ext cx="2072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>
                <a:latin typeface="Funnel Display" panose="020B0604020202020204" charset="0"/>
              </a:rPr>
              <a:t>Calibrated NO₂ </a:t>
            </a:r>
            <a:endParaRPr lang="en-AE" sz="800">
              <a:latin typeface="Funnel Display" panose="020B0604020202020204" charset="0"/>
            </a:endParaRPr>
          </a:p>
        </p:txBody>
      </p:sp>
      <p:sp>
        <p:nvSpPr>
          <p:cNvPr id="4" name="Google Shape;106;p25">
            <a:extLst>
              <a:ext uri="{FF2B5EF4-FFF2-40B4-BE49-F238E27FC236}">
                <a16:creationId xmlns:a16="http://schemas.microsoft.com/office/drawing/2014/main" id="{503CFECE-9269-F6BE-8299-70655D23DF68}"/>
              </a:ext>
            </a:extLst>
          </p:cNvPr>
          <p:cNvSpPr txBox="1">
            <a:spLocks/>
          </p:cNvSpPr>
          <p:nvPr/>
        </p:nvSpPr>
        <p:spPr>
          <a:xfrm>
            <a:off x="284018" y="243609"/>
            <a:ext cx="7702550" cy="684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>
            <a:r>
              <a:rPr lang="en-US" sz="3600"/>
              <a:t>Results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39876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56BBF41B-3DBB-BAE1-3E0F-A73625A2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D6416E-DAAB-8758-6619-E8A48E689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13</a:t>
            </a:fld>
            <a:endParaRPr lang="en-AE" dirty="0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E098AA19-464D-A9C0-CB77-70556DCF828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Summary</a:t>
            </a:r>
          </a:p>
        </p:txBody>
      </p:sp>
      <p:sp>
        <p:nvSpPr>
          <p:cNvPr id="4" name="Google Shape;115;p26">
            <a:extLst>
              <a:ext uri="{FF2B5EF4-FFF2-40B4-BE49-F238E27FC236}">
                <a16:creationId xmlns:a16="http://schemas.microsoft.com/office/drawing/2014/main" id="{B326CBBA-4BDD-985C-48C7-51A6A33DE8FB}"/>
              </a:ext>
            </a:extLst>
          </p:cNvPr>
          <p:cNvSpPr txBox="1">
            <a:spLocks/>
          </p:cNvSpPr>
          <p:nvPr/>
        </p:nvSpPr>
        <p:spPr>
          <a:xfrm>
            <a:off x="323999" y="1080000"/>
            <a:ext cx="8369727" cy="35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Analyze spatial pollution data to optimize monitoring networks through MST</a:t>
            </a:r>
          </a:p>
          <a:p>
            <a:pPr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Strategy to generate cost-efficient routing: </a:t>
            </a:r>
          </a:p>
          <a:p>
            <a:pPr lv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Grouping by geohash</a:t>
            </a:r>
          </a:p>
          <a:p>
            <a:pPr lv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Cluster by pollution and nearby points</a:t>
            </a:r>
          </a:p>
          <a:p>
            <a:pPr lv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AE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Minimum spanning tree by pollution and centroid points</a:t>
            </a:r>
          </a:p>
          <a:p>
            <a:pPr lv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AE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Suggest Sensor Optimization</a:t>
            </a:r>
          </a:p>
        </p:txBody>
      </p:sp>
    </p:spTree>
    <p:extLst>
      <p:ext uri="{BB962C8B-B14F-4D97-AF65-F5344CB8AC3E}">
        <p14:creationId xmlns:p14="http://schemas.microsoft.com/office/powerpoint/2010/main" val="2479855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2F3A625-9622-1A05-BB50-759E2FC6F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B2D9CA-B7C7-0983-D29A-5104E240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14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27A79E65-2E0A-36C9-427F-09B98DBA5D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Codes - Aaesha</a:t>
            </a:r>
          </a:p>
        </p:txBody>
      </p:sp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CB5C7AD3-BC45-27B2-A7D9-017BC50E57E4}"/>
              </a:ext>
            </a:extLst>
          </p:cNvPr>
          <p:cNvSpPr txBox="1">
            <a:spLocks/>
          </p:cNvSpPr>
          <p:nvPr/>
        </p:nvSpPr>
        <p:spPr>
          <a:xfrm>
            <a:off x="324000" y="1060949"/>
            <a:ext cx="6794652" cy="38198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381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Aptos"/>
                <a:ea typeface="Aptos" panose="020B0004020202020204" pitchFamily="34" charset="0"/>
              </a:rPr>
              <a:t>Collecting data and generating geohash codes</a:t>
            </a:r>
          </a:p>
          <a:p>
            <a:pPr marL="4381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Aptos"/>
                <a:ea typeface="Aptos" panose="020B0004020202020204" pitchFamily="34" charset="0"/>
              </a:rPr>
              <a:t>Analyzing the effects of environmental data</a:t>
            </a:r>
          </a:p>
          <a:p>
            <a:pPr marL="4381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Aptos"/>
                <a:ea typeface="Aptos" panose="020B0004020202020204" pitchFamily="34" charset="0"/>
              </a:rPr>
              <a:t>Grouping and sampling data</a:t>
            </a:r>
          </a:p>
          <a:p>
            <a:pPr marL="4381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Aptos"/>
                <a:ea typeface="Aptos" panose="020B0004020202020204" pitchFamily="34" charset="0"/>
              </a:rPr>
              <a:t>Minimum spanning tree</a:t>
            </a:r>
          </a:p>
          <a:p>
            <a:pPr marL="4381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Aptos"/>
                <a:ea typeface="Aptos" panose="020B0004020202020204" pitchFamily="34" charset="0"/>
              </a:rPr>
              <a:t>Sensors optimizing suggestion</a:t>
            </a:r>
          </a:p>
          <a:p>
            <a:pPr marL="4381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latin typeface="Aptos"/>
                <a:ea typeface="Aptos" panose="020B0004020202020204" pitchFamily="34" charset="0"/>
              </a:rPr>
              <a:t>Geohash gridding map with MST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76F4F-489D-0CD4-7B28-2C63D7593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060949"/>
            <a:ext cx="3648075" cy="15866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90E475-9AB0-8ABF-EFA7-49EC4A5B4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2057459"/>
            <a:ext cx="3540319" cy="15857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0C8F90-349D-38D6-FA51-5C4D1B93F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18" y="3606398"/>
            <a:ext cx="1636857" cy="12036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38B5AD-EEDE-6794-AB55-CF18C99CC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6849" y="3643174"/>
            <a:ext cx="3323346" cy="11668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53368-BFE2-60D0-B5BF-E8B0130E11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8120" y="3679029"/>
            <a:ext cx="1228601" cy="109517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B59BE14-6CC8-4092-D18C-F058FD0CB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151" y="3657759"/>
            <a:ext cx="1163637" cy="124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243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AD60BB54-7967-2DE9-7175-17F4FF775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5F8D63-C4D7-2BF8-F062-A124C6F9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15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FB6710D8-8659-BA2A-8FB8-886ED99AE7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Codes - </a:t>
            </a:r>
            <a:r>
              <a:rPr lang="en-US" sz="3600"/>
              <a:t>Ahuod</a:t>
            </a:r>
            <a:endParaRPr lang="en-US" sz="3600" dirty="0"/>
          </a:p>
        </p:txBody>
      </p:sp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7B236F88-B01F-76D3-003A-5FBB66537169}"/>
              </a:ext>
            </a:extLst>
          </p:cNvPr>
          <p:cNvSpPr txBox="1">
            <a:spLocks/>
          </p:cNvSpPr>
          <p:nvPr/>
        </p:nvSpPr>
        <p:spPr>
          <a:xfrm>
            <a:off x="324000" y="1079999"/>
            <a:ext cx="6794652" cy="3558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Funnel Display" panose="020B0604020202020204" charset="0"/>
                <a:cs typeface="Funnel Display" panose="020B0604020202020204" charset="0"/>
              </a:rPr>
              <a:t>Data Loading</a:t>
            </a:r>
            <a:endParaRPr lang="en-US" sz="1600">
              <a:latin typeface="Funnel Display" panose="020B0604020202020204" charset="0"/>
              <a:cs typeface="Funnel Display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Funnel Display" panose="020B0604020202020204" charset="0"/>
                <a:cs typeface="Funnel Display" panose="020B0604020202020204" charset="0"/>
              </a:rPr>
              <a:t>Initial Exploration</a:t>
            </a:r>
            <a:endParaRPr lang="en-US" sz="1600">
              <a:latin typeface="Funnel Display" panose="020B0604020202020204" charset="0"/>
              <a:cs typeface="Funnel Display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Funnel Display" panose="020B0604020202020204" charset="0"/>
                <a:cs typeface="Funnel Display" panose="020B0604020202020204" charset="0"/>
              </a:rPr>
              <a:t>Missing Value Analysis</a:t>
            </a:r>
            <a:endParaRPr lang="en-US" sz="1600">
              <a:latin typeface="Funnel Display" panose="020B0604020202020204" charset="0"/>
              <a:cs typeface="Funnel Display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Funnel Display" panose="020B0604020202020204" charset="0"/>
                <a:cs typeface="Funnel Display" panose="020B0604020202020204" charset="0"/>
              </a:rPr>
              <a:t>Data Cleaning</a:t>
            </a:r>
            <a:endParaRPr lang="en-US" sz="1600">
              <a:latin typeface="Funnel Display" panose="020B0604020202020204" charset="0"/>
              <a:cs typeface="Funnel Display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Funnel Display" panose="020B0604020202020204" charset="0"/>
                <a:cs typeface="Funnel Display" panose="020B0604020202020204" charset="0"/>
              </a:rPr>
              <a:t>Data Visualization (Before outlier removal)</a:t>
            </a:r>
            <a:endParaRPr lang="en-US" sz="1600">
              <a:latin typeface="Funnel Display" panose="020B0604020202020204" charset="0"/>
              <a:cs typeface="Funnel Display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latin typeface="Funnel Display" panose="020B0604020202020204" charset="0"/>
                <a:cs typeface="Funnel Display" panose="020B0604020202020204" charset="0"/>
              </a:rPr>
              <a:t>Outlier Detection &amp; Removal</a:t>
            </a:r>
            <a:endParaRPr lang="en-US" sz="1600">
              <a:latin typeface="Funnel Display" panose="020B0604020202020204" charset="0"/>
              <a:cs typeface="Funnel Display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0F261-7246-F901-1A29-2F0AE5AA2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052" y="2168860"/>
            <a:ext cx="1539200" cy="2681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218373-4034-B65E-8ABB-44666B40F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274" y="2285084"/>
            <a:ext cx="2083573" cy="2353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B21C98-21A6-5372-69D0-8DA720692A80}"/>
              </a:ext>
            </a:extLst>
          </p:cNvPr>
          <p:cNvSpPr txBox="1"/>
          <p:nvPr/>
        </p:nvSpPr>
        <p:spPr>
          <a:xfrm>
            <a:off x="5790340" y="1981189"/>
            <a:ext cx="326151" cy="276999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latin typeface="Funnel Display" panose="020B0604020202020204" charset="0"/>
                <a:cs typeface="Funnel Display" panose="020B0604020202020204" charset="0"/>
              </a:rPr>
              <a:t>3.</a:t>
            </a:r>
            <a:endParaRPr lang="en-AE" sz="1200" b="1">
              <a:latin typeface="Funnel Display" panose="020B0604020202020204" charset="0"/>
              <a:cs typeface="Funnel Display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8329C-B9B2-6D16-B0DB-997CBE3C8C6A}"/>
              </a:ext>
            </a:extLst>
          </p:cNvPr>
          <p:cNvSpPr txBox="1"/>
          <p:nvPr/>
        </p:nvSpPr>
        <p:spPr>
          <a:xfrm>
            <a:off x="7801971" y="2008084"/>
            <a:ext cx="331580" cy="276999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latin typeface="Funnel Display" panose="020B0604020202020204" charset="0"/>
                <a:cs typeface="Funnel Display" panose="020B0604020202020204" charset="0"/>
              </a:rPr>
              <a:t>5.</a:t>
            </a:r>
            <a:endParaRPr lang="en-AE" sz="1200" b="1">
              <a:latin typeface="Funnel Display" panose="020B0604020202020204" charset="0"/>
              <a:cs typeface="Funnel Display" panose="020B060402020202020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E8925B-AD9E-F04C-0D0E-3466743FB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4497" y="2734614"/>
            <a:ext cx="2683534" cy="21377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85576E-3B27-7A4F-F6B0-5F6326006DBF}"/>
              </a:ext>
            </a:extLst>
          </p:cNvPr>
          <p:cNvSpPr txBox="1"/>
          <p:nvPr/>
        </p:nvSpPr>
        <p:spPr>
          <a:xfrm>
            <a:off x="3888524" y="2578185"/>
            <a:ext cx="341538" cy="276999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latin typeface="Funnel Display" panose="020B0604020202020204" charset="0"/>
                <a:cs typeface="Funnel Display" panose="020B0604020202020204" charset="0"/>
              </a:rPr>
              <a:t>6.</a:t>
            </a:r>
            <a:endParaRPr lang="en-AE" sz="1200" b="1">
              <a:latin typeface="Funnel Display" panose="020B0604020202020204" charset="0"/>
              <a:cs typeface="Funnel Display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416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00FCCAD0-7097-38CB-8F56-13989CA1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FE88B9-F028-BE9B-2868-C9CE55606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16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58C8E758-44C5-93E5-120C-908C8441091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Codes - Kulsum</a:t>
            </a:r>
          </a:p>
        </p:txBody>
      </p:sp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C1CA0B92-CE82-73CF-02B5-FE860AE46BAF}"/>
              </a:ext>
            </a:extLst>
          </p:cNvPr>
          <p:cNvSpPr txBox="1">
            <a:spLocks/>
          </p:cNvSpPr>
          <p:nvPr/>
        </p:nvSpPr>
        <p:spPr>
          <a:xfrm>
            <a:off x="287398" y="1081359"/>
            <a:ext cx="3732152" cy="26429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38150" indent="-285750">
              <a:spcAft>
                <a:spcPts val="800"/>
              </a:spcAft>
              <a:buFont typeface="Arial,Sans-Serif"/>
              <a:buChar char="•"/>
            </a:pPr>
            <a:r>
              <a:rPr lang="en-US" sz="1800" kern="100" dirty="0">
                <a:latin typeface="Aptos"/>
              </a:rPr>
              <a:t>Seasonal Trend</a:t>
            </a:r>
            <a:endParaRPr lang="en-US" sz="1800" kern="100" dirty="0">
              <a:solidFill>
                <a:srgbClr val="191919"/>
              </a:solidFill>
              <a:latin typeface="Aptos"/>
            </a:endParaRPr>
          </a:p>
          <a:p>
            <a:pPr marL="438150" indent="-285750">
              <a:spcAft>
                <a:spcPts val="800"/>
              </a:spcAft>
              <a:buFont typeface="Arial,Sans-Serif"/>
              <a:buChar char="•"/>
            </a:pPr>
            <a:r>
              <a:rPr lang="en-US" sz="1800" kern="100" dirty="0">
                <a:latin typeface="Aptos"/>
              </a:rPr>
              <a:t>K-Means</a:t>
            </a:r>
            <a:endParaRPr lang="en-US" sz="1800" kern="100" dirty="0">
              <a:solidFill>
                <a:srgbClr val="191919"/>
              </a:solidFill>
              <a:latin typeface="Aptos"/>
            </a:endParaRPr>
          </a:p>
          <a:p>
            <a:pPr marL="438150" indent="-285750">
              <a:spcAft>
                <a:spcPts val="800"/>
              </a:spcAft>
              <a:buFont typeface="Arial,Sans-Serif"/>
              <a:buChar char="•"/>
            </a:pPr>
            <a:r>
              <a:rPr lang="en-US" sz="1800" kern="100" dirty="0">
                <a:latin typeface="Aptos"/>
              </a:rPr>
              <a:t>Clustering &amp; </a:t>
            </a:r>
            <a:r>
              <a:rPr lang="en-US" sz="1800" kern="100" dirty="0" err="1">
                <a:latin typeface="Aptos"/>
              </a:rPr>
              <a:t>Centriods</a:t>
            </a:r>
            <a:endParaRPr lang="en-US" sz="1800" kern="100" dirty="0">
              <a:solidFill>
                <a:srgbClr val="191919"/>
              </a:solidFill>
              <a:latin typeface="Aptos"/>
            </a:endParaRPr>
          </a:p>
          <a:p>
            <a:pPr marL="438150" indent="-285750">
              <a:spcAft>
                <a:spcPts val="800"/>
              </a:spcAft>
              <a:buFont typeface="Arial,Sans-Serif"/>
              <a:buChar char="•"/>
            </a:pPr>
            <a:r>
              <a:rPr lang="en-US" sz="1800" kern="100" dirty="0">
                <a:latin typeface="Aptos"/>
              </a:rPr>
              <a:t>Geohash Griding (Map)</a:t>
            </a:r>
            <a:endParaRPr lang="en-US" sz="1800" kern="100" dirty="0">
              <a:solidFill>
                <a:srgbClr val="191919"/>
              </a:solidFill>
              <a:latin typeface="Aptos"/>
            </a:endParaRPr>
          </a:p>
          <a:p>
            <a:pPr marL="438150" indent="-285750">
              <a:spcAft>
                <a:spcPts val="800"/>
              </a:spcAft>
              <a:buFont typeface="Arial,Sans-Serif"/>
              <a:buChar char="•"/>
            </a:pPr>
            <a:r>
              <a:rPr lang="en-US" sz="1800" kern="100" dirty="0">
                <a:latin typeface="Aptos"/>
              </a:rPr>
              <a:t>Code( Comments)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7D180-FC20-A932-3E09-E5F1ECAC4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108" y="3202388"/>
            <a:ext cx="2521100" cy="1539703"/>
          </a:xfrm>
          <a:prstGeom prst="rect">
            <a:avLst/>
          </a:prstGeom>
        </p:spPr>
      </p:pic>
      <p:pic>
        <p:nvPicPr>
          <p:cNvPr id="5" name="Picture 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7FD1BF8E-F35E-BF08-AC27-E2DEAE738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0350" y="1282767"/>
            <a:ext cx="2022233" cy="1673614"/>
          </a:xfrm>
          <a:prstGeom prst="rect">
            <a:avLst/>
          </a:prstGeom>
        </p:spPr>
      </p:pic>
      <p:pic>
        <p:nvPicPr>
          <p:cNvPr id="7" name="Picture 6" descr="A graph of a number of points&#10;&#10;AI-generated content may be incorrect.">
            <a:extLst>
              <a:ext uri="{FF2B5EF4-FFF2-40B4-BE49-F238E27FC236}">
                <a16:creationId xmlns:a16="http://schemas.microsoft.com/office/drawing/2014/main" id="{F2AA58AB-AE3B-02C6-BDCF-FCA8C77A6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624" y="3259433"/>
            <a:ext cx="2078570" cy="1551216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398CB93-2B82-5810-54DD-570AEE9847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2319" y="1011115"/>
            <a:ext cx="3390977" cy="36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45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E77E-208C-1865-6557-721FDBC8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59" y="386258"/>
            <a:ext cx="3093597" cy="610323"/>
          </a:xfrm>
        </p:spPr>
        <p:txBody>
          <a:bodyPr/>
          <a:lstStyle/>
          <a:p>
            <a:r>
              <a:rPr lang="en-US" sz="2800"/>
              <a:t>Codes – Ghalya:</a:t>
            </a:r>
            <a:endParaRPr lang="en-A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BA1C9-D80E-13A7-BDC3-7B77DC4E102B}"/>
              </a:ext>
            </a:extLst>
          </p:cNvPr>
          <p:cNvSpPr txBox="1"/>
          <p:nvPr/>
        </p:nvSpPr>
        <p:spPr>
          <a:xfrm>
            <a:off x="408059" y="88233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>
                <a:solidFill>
                  <a:srgbClr val="262626"/>
                </a:solidFill>
                <a:effectLst/>
                <a:latin typeface="Open Sans" panose="020B0606030504020204" pitchFamily="34" charset="0"/>
              </a:rPr>
              <a:t>code demonstrations  “</a:t>
            </a:r>
            <a:r>
              <a:rPr lang="en"/>
              <a:t>Maps”</a:t>
            </a:r>
            <a:endParaRPr lang="en-A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74DC28-E032-5ABF-7CE1-15E38048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17</a:t>
            </a:fld>
            <a:endParaRPr lang="en-A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D4E551-A40C-72E4-ABBD-C45D4C10E689}"/>
              </a:ext>
            </a:extLst>
          </p:cNvPr>
          <p:cNvSpPr txBox="1"/>
          <p:nvPr/>
        </p:nvSpPr>
        <p:spPr>
          <a:xfrm>
            <a:off x="5334770" y="2959771"/>
            <a:ext cx="22907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latin typeface="Funnel Display" panose="020B0604020202020204" charset="0"/>
              </a:rPr>
              <a:t>Mismatch Between Data and GeoJSON</a:t>
            </a:r>
            <a:endParaRPr lang="en-AE" sz="900">
              <a:latin typeface="Funnel Display" panose="020B060402020202020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E786AF9-AF7C-D115-D9A6-05AD68C3AD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934"/>
          <a:stretch/>
        </p:blipFill>
        <p:spPr>
          <a:xfrm>
            <a:off x="6423077" y="3395891"/>
            <a:ext cx="581301" cy="51878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A8F8F54-7902-D4FC-5D9D-F5C38F9D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/>
        </p:blipFill>
        <p:spPr>
          <a:xfrm>
            <a:off x="6389254" y="4028923"/>
            <a:ext cx="1236216" cy="5644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ADBDD91-9B9C-4669-26CF-5B7F5BBAC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009" y="3983583"/>
            <a:ext cx="754365" cy="6551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3D3790-7521-8225-3F26-745F04C04E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302" y="3259509"/>
            <a:ext cx="986072" cy="65516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8DA902B-50B7-342A-DC59-6D02DB173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032" y="1350721"/>
            <a:ext cx="4571999" cy="2790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23DF899-41E6-FF3B-51CE-CD516EC9F7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750" y="1629811"/>
            <a:ext cx="4572281" cy="151877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19781E5-AB30-BF39-4473-B3994F2E39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750" y="3148585"/>
            <a:ext cx="4571999" cy="99833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2BA0869-D3D1-D64A-82BB-48198C99AF3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58692"/>
          <a:stretch/>
        </p:blipFill>
        <p:spPr>
          <a:xfrm>
            <a:off x="476750" y="4148059"/>
            <a:ext cx="4571999" cy="65516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BDD3E9C-72A9-41FB-E546-138A1704E8A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366" y="531074"/>
            <a:ext cx="1016348" cy="1098737"/>
          </a:xfrm>
          <a:prstGeom prst="rect">
            <a:avLst/>
          </a:prstGeom>
          <a:noFill/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9733E63-D1C7-833B-F8E4-FB85C0FC38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2514" y="526040"/>
            <a:ext cx="1072532" cy="111573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47057BB-25F9-EF93-3C92-0A924C6561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5440" y="526040"/>
            <a:ext cx="1072532" cy="1117216"/>
          </a:xfrm>
          <a:prstGeom prst="rect">
            <a:avLst/>
          </a:prstGeom>
        </p:spPr>
      </p:pic>
      <p:pic>
        <p:nvPicPr>
          <p:cNvPr id="48" name="Picture 47" descr="A map with different colored squares&#10;&#10;AI-generated content may be incorrect.">
            <a:extLst>
              <a:ext uri="{FF2B5EF4-FFF2-40B4-BE49-F238E27FC236}">
                <a16:creationId xmlns:a16="http://schemas.microsoft.com/office/drawing/2014/main" id="{0364291B-89D8-F07A-B3C7-8788DB524D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2515" y="1756021"/>
            <a:ext cx="1072532" cy="1103772"/>
          </a:xfrm>
          <a:prstGeom prst="rect">
            <a:avLst/>
          </a:prstGeom>
        </p:spPr>
      </p:pic>
      <p:pic>
        <p:nvPicPr>
          <p:cNvPr id="49" name="Picture 48" descr="A map with many squares&#10;&#10;AI-generated content may be incorrect.">
            <a:extLst>
              <a:ext uri="{FF2B5EF4-FFF2-40B4-BE49-F238E27FC236}">
                <a16:creationId xmlns:a16="http://schemas.microsoft.com/office/drawing/2014/main" id="{F80A0376-8805-6F69-3646-9C7DD67AF6C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71267" y="1732318"/>
            <a:ext cx="1026705" cy="1103771"/>
          </a:xfrm>
          <a:prstGeom prst="rect">
            <a:avLst/>
          </a:prstGeom>
        </p:spPr>
      </p:pic>
      <p:pic>
        <p:nvPicPr>
          <p:cNvPr id="50" name="Picture 49" descr="A map with blue and gray squares&#10;&#10;AI-generated content may be incorrect.">
            <a:extLst>
              <a:ext uri="{FF2B5EF4-FFF2-40B4-BE49-F238E27FC236}">
                <a16:creationId xmlns:a16="http://schemas.microsoft.com/office/drawing/2014/main" id="{04F3124E-1E1F-A187-0CF1-55C0D9F6909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28366" y="1732318"/>
            <a:ext cx="1016348" cy="110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43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AC4A751-3D73-4FD9-050B-8732FD7E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E4A79-4302-626E-DC92-4D71A2423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18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59A55D37-C6CC-BB1C-B79E-ABFD63174E6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8D00AC-76AB-DB4F-3763-22BE6C0C2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940862"/>
              </p:ext>
            </p:extLst>
          </p:nvPr>
        </p:nvGraphicFramePr>
        <p:xfrm>
          <a:off x="466746" y="992425"/>
          <a:ext cx="8051877" cy="3708392"/>
        </p:xfrm>
        <a:graphic>
          <a:graphicData uri="http://schemas.openxmlformats.org/drawingml/2006/table">
            <a:tbl>
              <a:tblPr firstRow="1" bandRow="1">
                <a:tableStyleId>{54F8EFB0-4C6B-4B05-83CD-55DA23EE8B57}</a:tableStyleId>
              </a:tblPr>
              <a:tblGrid>
                <a:gridCol w="2447192">
                  <a:extLst>
                    <a:ext uri="{9D8B030D-6E8A-4147-A177-3AD203B41FA5}">
                      <a16:colId xmlns:a16="http://schemas.microsoft.com/office/drawing/2014/main" val="3474983857"/>
                    </a:ext>
                  </a:extLst>
                </a:gridCol>
                <a:gridCol w="5604685">
                  <a:extLst>
                    <a:ext uri="{9D8B030D-6E8A-4147-A177-3AD203B41FA5}">
                      <a16:colId xmlns:a16="http://schemas.microsoft.com/office/drawing/2014/main" val="30726846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/>
                        <a:t>Tiles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Contributor Names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29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Abstract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Ahuod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58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Introduction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Ahuod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902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Related literature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Ahuod (High) , Kulsum (High) , Ghalya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99135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Methodology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Aaesha (High), Ahuod (Low), </a:t>
                      </a:r>
                      <a:r>
                        <a:rPr lang="en-US"/>
                        <a:t>Kulsum (Medium) , Ghalya (Low)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636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Results and 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Aaesha (High),  Ahuod (High)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80251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Summary and future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/>
                        <a:t>Aaesha (High),  Ahuod (High) , Kulsum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97756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Compiling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Aaesha (High) , Kulsum (High), Ghalya (High), Ahuod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82750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lang="en-US"/>
                        <a:t>Aaesha (High), Ahuod (High) , Kulsum (High), Ghalya (High)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9086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Aaesha (High), Ahuod (Medium)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, Kulsum (</a:t>
                      </a:r>
                      <a:r>
                        <a:rPr lang="en-US"/>
                        <a:t>High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)</a:t>
                      </a:r>
                      <a:r>
                        <a:rPr lang="en-US"/>
                        <a:t>, Ghalya (Medium)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876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162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6B0C8510-2CB1-19D8-CC36-B350EBBA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E38019-BCBB-5736-897F-954FC56F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19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8E265FDA-4E1D-82AF-0DBE-1A3272707E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Commits Contributions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73A460-9CF3-48B6-D569-E1462C300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055707"/>
            <a:ext cx="4437446" cy="368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60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A4665AC7-8607-548D-3A4B-ECC870EC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DDEAF5-32B9-7917-3B35-E2C70D6C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20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EDEF24A8-C65B-A843-0131-5FC4752E81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Aaesha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E95F17-DF54-B5A6-DECD-CCAB5A5C54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0" r="43926"/>
          <a:stretch/>
        </p:blipFill>
        <p:spPr>
          <a:xfrm>
            <a:off x="432000" y="974296"/>
            <a:ext cx="3931920" cy="382037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7F20A4-8F94-B51B-B969-C1BC8E77E6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553"/>
          <a:stretch/>
        </p:blipFill>
        <p:spPr>
          <a:xfrm>
            <a:off x="4428126" y="974296"/>
            <a:ext cx="4312014" cy="335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7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A2EAFB2-CAB1-8757-BB1D-5C67D1BB0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1B2013-3D12-FFD1-2D7F-3D643F28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21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E6045FE8-D954-2C47-0736-16C2C68116A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Aaesha</a:t>
            </a: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E5DA656-BB3D-86AE-5DF1-5EF77B6CDD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404"/>
          <a:stretch/>
        </p:blipFill>
        <p:spPr>
          <a:xfrm>
            <a:off x="432000" y="995909"/>
            <a:ext cx="4178583" cy="3825584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BA4F946-E8B2-648E-F57A-CBBB21E344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736"/>
          <a:stretch/>
        </p:blipFill>
        <p:spPr>
          <a:xfrm>
            <a:off x="4680000" y="995909"/>
            <a:ext cx="3519534" cy="382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53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C6EDDD0-73F6-CBCB-0071-D4647D88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4BBE43-C03B-9B13-5AD7-1213F637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22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1A2F8354-6FA0-BD87-794A-9BC2723E727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Aaesha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7D2D68-35C3-95D8-CC2E-AA95CF509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025754"/>
            <a:ext cx="4750903" cy="379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09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3942F6F5-BED3-E7D7-36C0-4D1F5977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89DB54-62E9-849E-4DC0-A702A734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23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B1E37F3B-5C8C-FD9B-0705-07D61E9729B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</a:t>
            </a:r>
            <a:r>
              <a:rPr lang="en-US" sz="3600" err="1"/>
              <a:t>Ahuod</a:t>
            </a:r>
            <a:endParaRPr lang="en-US" sz="360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772F91-B119-7086-CDC3-4C571E53F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41582"/>
          <a:stretch/>
        </p:blipFill>
        <p:spPr>
          <a:xfrm>
            <a:off x="287220" y="1044691"/>
            <a:ext cx="4376220" cy="376537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FDD6A3-3856-76DB-9585-56E9CAEBC4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117"/>
          <a:stretch/>
        </p:blipFill>
        <p:spPr>
          <a:xfrm>
            <a:off x="4724400" y="1044691"/>
            <a:ext cx="4193340" cy="343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324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F4FA493D-2976-E30E-7B50-E94630B1F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D3994-A0F6-8DB1-FB6A-8F8743E3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24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2720BC2B-4748-9ADC-B541-7874DFB4B4C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</a:t>
            </a:r>
            <a:r>
              <a:rPr lang="en-US" sz="3600" err="1"/>
              <a:t>Ahuod</a:t>
            </a:r>
            <a:endParaRPr lang="en-US" sz="36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1408341-C5C0-72BE-E997-F908C43A25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385"/>
          <a:stretch/>
        </p:blipFill>
        <p:spPr>
          <a:xfrm>
            <a:off x="308649" y="1073785"/>
            <a:ext cx="3806152" cy="3126054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53A6A0-9206-964C-0DF0-3332D373E2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777"/>
          <a:stretch/>
        </p:blipFill>
        <p:spPr>
          <a:xfrm>
            <a:off x="4135293" y="1073785"/>
            <a:ext cx="4738734" cy="312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81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080E7681-5A5A-A1F8-FC34-8AA284A2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3B41FF-86DE-1F3C-EA47-918F76F3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25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E57566AA-ECBE-B94A-0D6D-31ACE00C747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</a:t>
            </a:r>
            <a:r>
              <a:rPr lang="en-US" sz="3600" err="1"/>
              <a:t>Ahuod</a:t>
            </a:r>
            <a:endParaRPr lang="en-US" sz="360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E23353-32D4-9EA8-06B1-7B0003273B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671"/>
          <a:stretch/>
        </p:blipFill>
        <p:spPr>
          <a:xfrm>
            <a:off x="404766" y="1033171"/>
            <a:ext cx="3260454" cy="3759809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6C56ED-9366-D8CA-92A7-9D5DBD9ABF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874"/>
          <a:stretch/>
        </p:blipFill>
        <p:spPr>
          <a:xfrm>
            <a:off x="3844290" y="1033171"/>
            <a:ext cx="3829050" cy="363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60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A65A1CD1-98AE-E83E-B1B1-1DB3713D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91B0DD-FF28-8DC5-EA85-B2A0CEF7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26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8ED8A15C-3192-17BF-5EAD-742DDE8A980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</a:t>
            </a:r>
            <a:r>
              <a:rPr lang="en-US" sz="3600" err="1"/>
              <a:t>Ahuod</a:t>
            </a:r>
            <a:endParaRPr lang="en-US" sz="36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354DA5-E904-D8BE-15E9-46E25C68BF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869"/>
          <a:stretch/>
        </p:blipFill>
        <p:spPr>
          <a:xfrm>
            <a:off x="443393" y="1052294"/>
            <a:ext cx="4966808" cy="249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54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980E25C-4DD4-DDDF-8FED-42036947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735E4D-9743-69E6-3420-24EF4095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27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33B0C927-CFB1-BAC9-99A5-D1E2669203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Kulsum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ECD16D-75E1-0E8A-8237-52731361B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302"/>
          <a:stretch/>
        </p:blipFill>
        <p:spPr>
          <a:xfrm>
            <a:off x="480966" y="1036941"/>
            <a:ext cx="2902314" cy="377312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026EAE-C8BB-A9F3-544A-B736988BEF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756"/>
          <a:stretch/>
        </p:blipFill>
        <p:spPr>
          <a:xfrm>
            <a:off x="3452574" y="1036941"/>
            <a:ext cx="4021935" cy="378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57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1D996145-6531-64A9-EC0D-D747B7040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30061C-E6E4-78D6-3624-20CDE7DEC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28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C1D2835E-4EEC-3560-286D-0A0B9E8D146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Kulsum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672D85-8FAB-D2AA-042A-96FB55FC7B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794"/>
          <a:stretch/>
        </p:blipFill>
        <p:spPr>
          <a:xfrm>
            <a:off x="340995" y="1025510"/>
            <a:ext cx="4520565" cy="2483288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2169614-49AD-425C-1BDD-A5241349C3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285"/>
          <a:stretch/>
        </p:blipFill>
        <p:spPr>
          <a:xfrm>
            <a:off x="340995" y="3539113"/>
            <a:ext cx="4520565" cy="128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25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93246CF-8CEE-ED09-F79F-BA7594682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F9DA37-2BCE-2ED9-6C34-5E330DD4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29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2BAF70D7-618D-10FA-77E6-F001C253360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Kulsum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8DD725-488C-B62A-D831-00288F783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443"/>
          <a:stretch/>
        </p:blipFill>
        <p:spPr>
          <a:xfrm>
            <a:off x="374286" y="1004230"/>
            <a:ext cx="4197714" cy="384232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4C947F-1EC6-9C0A-A755-7E68898F57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6678"/>
          <a:stretch/>
        </p:blipFill>
        <p:spPr>
          <a:xfrm>
            <a:off x="4644843" y="1004230"/>
            <a:ext cx="3676197" cy="376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63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B4271A8-3BE9-A516-0628-B9EDD6E4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6DA0A0-CC8D-D7E2-5351-E4D19D06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30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497171D0-61C0-5BC3-3B07-9565044A06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Ghalya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A26F12-F9A7-137D-A468-277753830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52" y="1047750"/>
            <a:ext cx="4155975" cy="3762375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987A8B-7F9F-FD34-C50B-CC84AAF243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" t="53" r="10644" b="123"/>
          <a:stretch/>
        </p:blipFill>
        <p:spPr>
          <a:xfrm>
            <a:off x="4572000" y="1047750"/>
            <a:ext cx="4336748" cy="375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00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DFB4A82-5105-D756-BEB9-1376E387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986963-0C1B-84ED-926D-DEDF3FE1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31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D5BD7ECA-1BB1-48B8-ECB2-E96B4AF65D2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Ghalya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E12891-7D22-3F11-8FC6-5EE818EFB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50" y="1027339"/>
            <a:ext cx="4048655" cy="3782786"/>
          </a:xfrm>
          <a:prstGeom prst="rect">
            <a:avLst/>
          </a:prstGeom>
        </p:spPr>
      </p:pic>
      <p:pic>
        <p:nvPicPr>
          <p:cNvPr id="6" name="Picture 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04B78D49-D0E5-FB40-0D0D-FCCC064DB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990" y="1027338"/>
            <a:ext cx="3915906" cy="378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13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CB01E1C5-3C70-493B-578F-4297FF0CB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F53A78-65DB-D7CC-F45E-12EC2E1C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7DDB0-E2E2-415A-AC45-728D083698E8}" type="slidenum">
              <a:rPr lang="en-AE" smtClean="0"/>
              <a:t>32</a:t>
            </a:fld>
            <a:endParaRPr lang="en-AE"/>
          </a:p>
        </p:txBody>
      </p:sp>
      <p:sp>
        <p:nvSpPr>
          <p:cNvPr id="106" name="Google Shape;106;p25">
            <a:extLst>
              <a:ext uri="{FF2B5EF4-FFF2-40B4-BE49-F238E27FC236}">
                <a16:creationId xmlns:a16="http://schemas.microsoft.com/office/drawing/2014/main" id="{7B41DAE6-4EFD-F137-AD9C-24D7E8919B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84018" y="243609"/>
            <a:ext cx="7702550" cy="684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Contribution - Ghalya</a:t>
            </a:r>
          </a:p>
        </p:txBody>
      </p:sp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97D63617-791A-6E55-F402-866818C4B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952" y="1636071"/>
            <a:ext cx="3731751" cy="2276475"/>
          </a:xfrm>
          <a:prstGeom prst="rect">
            <a:avLst/>
          </a:prstGeom>
        </p:spPr>
      </p:pic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2EFA1B17-9970-B43C-C158-D5DFD633B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13" y="1150234"/>
            <a:ext cx="3917308" cy="366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86312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for Business by Slidesgo">
  <a:themeElements>
    <a:clrScheme name="Simple Light">
      <a:dk1>
        <a:srgbClr val="191919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4A8D99FDDD504EAC7C893DCA0B7BEA" ma:contentTypeVersion="17" ma:contentTypeDescription="Create a new document." ma:contentTypeScope="" ma:versionID="3c58d0a85d90d6cce2cdb2fb7aa23cb0">
  <xsd:schema xmlns:xsd="http://www.w3.org/2001/XMLSchema" xmlns:xs="http://www.w3.org/2001/XMLSchema" xmlns:p="http://schemas.microsoft.com/office/2006/metadata/properties" xmlns:ns3="aa3e5413-90db-4a9c-b5b4-9fd41abc782d" xmlns:ns4="812e957a-1c83-4011-bf95-93b6ab0417ba" targetNamespace="http://schemas.microsoft.com/office/2006/metadata/properties" ma:root="true" ma:fieldsID="828b060edce63cc6e81a1a7151df86c3" ns3:_="" ns4:_="">
    <xsd:import namespace="aa3e5413-90db-4a9c-b5b4-9fd41abc782d"/>
    <xsd:import namespace="812e957a-1c83-4011-bf95-93b6ab0417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3e5413-90db-4a9c-b5b4-9fd41abc78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e957a-1c83-4011-bf95-93b6ab0417b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a3e5413-90db-4a9c-b5b4-9fd41abc782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C7C3CE-D210-405B-B684-2D6C17CC4C47}">
  <ds:schemaRefs>
    <ds:schemaRef ds:uri="812e957a-1c83-4011-bf95-93b6ab0417ba"/>
    <ds:schemaRef ds:uri="aa3e5413-90db-4a9c-b5b4-9fd41abc78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4B84A1-C264-4437-B6D8-F088608A257E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aa3e5413-90db-4a9c-b5b4-9fd41abc782d"/>
    <ds:schemaRef ds:uri="http://schemas.microsoft.com/office/2006/metadata/properties"/>
    <ds:schemaRef ds:uri="http://schemas.microsoft.com/office/infopath/2007/PartnerControls"/>
    <ds:schemaRef ds:uri="812e957a-1c83-4011-bf95-93b6ab0417ba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D002416-AE39-4402-88BB-55B60CF3B66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ba2eba-5425-4d9b-b24b-f0f4845bcf62}" enabled="0" method="" siteId="{e0ba2eba-5425-4d9b-b24b-f0f4845bcf6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524</Words>
  <Application>Microsoft Office PowerPoint</Application>
  <PresentationFormat>On-screen Show (16:9)</PresentationFormat>
  <Paragraphs>137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Open Sans</vt:lpstr>
      <vt:lpstr>Funnel Display</vt:lpstr>
      <vt:lpstr>Aptos</vt:lpstr>
      <vt:lpstr>Arial,Sans-Serif</vt:lpstr>
      <vt:lpstr>Nunito Light</vt:lpstr>
      <vt:lpstr>Wingdings</vt:lpstr>
      <vt:lpstr>DM Sans</vt:lpstr>
      <vt:lpstr>Minimalist for Business by Slidesgo</vt:lpstr>
      <vt:lpstr>Minimum Spanning Tree (MST) for Optimizing Pollution Monitoring Networks 🌲  Foundations of Data Science 1501564 – Final Project   </vt:lpstr>
      <vt:lpstr>Introduction</vt:lpstr>
      <vt:lpstr>Objective</vt:lpstr>
      <vt:lpstr>Methodology</vt:lpstr>
      <vt:lpstr>Results</vt:lpstr>
      <vt:lpstr>Results</vt:lpstr>
      <vt:lpstr>Results</vt:lpstr>
      <vt:lpstr>Results</vt:lpstr>
      <vt:lpstr>Results</vt:lpstr>
      <vt:lpstr>Results</vt:lpstr>
      <vt:lpstr>PowerPoint Presentation</vt:lpstr>
      <vt:lpstr>PowerPoint Presentation</vt:lpstr>
      <vt:lpstr>Summary</vt:lpstr>
      <vt:lpstr>Codes - Aaesha</vt:lpstr>
      <vt:lpstr>Codes - Ahuod</vt:lpstr>
      <vt:lpstr>Codes - Kulsum</vt:lpstr>
      <vt:lpstr>Codes – Ghalya:</vt:lpstr>
      <vt:lpstr>Contribution</vt:lpstr>
      <vt:lpstr>Commits Contributions</vt:lpstr>
      <vt:lpstr>Contribution - Aaesha</vt:lpstr>
      <vt:lpstr>Contribution - Aaesha</vt:lpstr>
      <vt:lpstr>Contribution - Aaesha</vt:lpstr>
      <vt:lpstr>Contribution - Ahuod</vt:lpstr>
      <vt:lpstr>Contribution - Ahuod</vt:lpstr>
      <vt:lpstr>Contribution - Ahuod</vt:lpstr>
      <vt:lpstr>Contribution - Ahuod</vt:lpstr>
      <vt:lpstr>Contribution - Kulsum</vt:lpstr>
      <vt:lpstr>Contribution - Kulsum</vt:lpstr>
      <vt:lpstr>Contribution - Kulsum</vt:lpstr>
      <vt:lpstr>Contribution - Ghalya</vt:lpstr>
      <vt:lpstr>Contribution - Ghalya</vt:lpstr>
      <vt:lpstr>Contribution - Ghalya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Ahuod Al</dc:creator>
  <cp:lastModifiedBy>Aaesha Alteneiji</cp:lastModifiedBy>
  <cp:revision>1</cp:revision>
  <dcterms:modified xsi:type="dcterms:W3CDTF">2025-05-09T14:23:19Z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0x0101007E4A8D99FDDD504EAC7C893DCA0B7BEA</vt:lpwstr>
  </property>
</Properties>
</file>